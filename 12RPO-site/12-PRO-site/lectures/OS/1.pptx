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97AFF-27A1-40CA-81B5-28DBA25BA411}" v="606" dt="2023-12-24T19:03:37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24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1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6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1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35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27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41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5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54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4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38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xmlns="" id="{3A930249-8242-4E2B-AF17-C018264883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xmlns="" id="{A5BDD999-C5E1-4B3E-A710-7686738191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Рисунок 4" descr="Изображение выглядит как снимок экрана, текст, клавиатура&#10;&#10;Автоматически созданное описание">
            <a:extLst>
              <a:ext uri="{FF2B5EF4-FFF2-40B4-BE49-F238E27FC236}">
                <a16:creationId xmlns:a16="http://schemas.microsoft.com/office/drawing/2014/main" xmlns="" id="{32FBE539-4000-9F81-F345-E619C69297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ru-RU" sz="5200" dirty="0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Вредоносные программы</a:t>
            </a:r>
            <a:br>
              <a:rPr lang="ru-RU" sz="5200" dirty="0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</a:br>
            <a:r>
              <a:rPr lang="ru-RU" sz="5200" dirty="0">
                <a:solidFill>
                  <a:srgbClr val="FFFFFF"/>
                </a:solidFill>
                <a:latin typeface="Times New Roman"/>
                <a:ea typeface="+mj-lt"/>
                <a:cs typeface="+mj-lt"/>
              </a:rPr>
              <a:t>  </a:t>
            </a:r>
            <a:endParaRPr lang="ru-RU" sz="52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cap="all" dirty="0">
                <a:solidFill>
                  <a:srgbClr val="FFFFFF"/>
                </a:solidFill>
                <a:latin typeface="Times New Roman"/>
                <a:cs typeface="Times New Roman"/>
              </a:rPr>
              <a:t>КЛАССИФИКАЦИИ, МЕТОДЫ ОБНАРУЖЕНИЯ</a:t>
            </a:r>
            <a:endParaRPr lang="ru-RU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endParaRPr lang="ru-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технология&#10;&#10;Автоматически созданное описание">
            <a:extLst>
              <a:ext uri="{FF2B5EF4-FFF2-40B4-BE49-F238E27FC236}">
                <a16:creationId xmlns:a16="http://schemas.microsoft.com/office/drawing/2014/main" xmlns="" id="{A29930AD-7C75-3574-23FF-21B417C22D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371" b="2437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103413-1D68-5371-071C-E826C92CB7A2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Термин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«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вредоносное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ПО» –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это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сокращение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термина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«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вредоносное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программное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обеспечение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», в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этом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обзоре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также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называемое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вредоносной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программой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.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Вредоносные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–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это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намеренно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разработанные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и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внедряемые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для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нанесения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ущерба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компьютерам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и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компьютерным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800" err="1">
                <a:solidFill>
                  <a:srgbClr val="FFFFFF"/>
                </a:solidFill>
                <a:latin typeface="Times New Roman"/>
                <a:cs typeface="Times New Roman"/>
              </a:rPr>
              <a:t>системам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370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 descr="Изображение выглядит как снимок экрана, текст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xmlns="" id="{CE7C7895-5C01-65A5-334C-98AE43E85F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625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1C57F1F-7FFF-5B80-5823-3A2A45963387}"/>
              </a:ext>
            </a:extLst>
          </p:cNvPr>
          <p:cNvSpPr txBox="1"/>
          <p:nvPr/>
        </p:nvSpPr>
        <p:spPr>
          <a:xfrm>
            <a:off x="838200" y="2004446"/>
            <a:ext cx="10515600" cy="41768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Часто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спрашивают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чем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отличается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вирус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от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вредоносной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Разница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том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что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вредоносная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это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общий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термин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для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ряда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сетевых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угроз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включая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вирусы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шпионские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рекламные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программы-вымогатели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другие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типы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Компьютерный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вирус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это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один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из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видов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749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текст, снимок экрана, График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xmlns="" id="{F384DAE5-4C7F-4C5B-5C65-07703A45DD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258" b="3992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D807C9A-85C1-D3EA-8109-D96D010195C1}"/>
              </a:ext>
            </a:extLst>
          </p:cNvPr>
          <p:cNvSpPr txBox="1"/>
          <p:nvPr/>
        </p:nvSpPr>
        <p:spPr>
          <a:xfrm>
            <a:off x="838200" y="2004446"/>
            <a:ext cx="10515600" cy="41768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Классификация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Существуют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различные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классификации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Например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по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способу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распространения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почтовые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сетевые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переносимые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вместе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с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носителями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Чаще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применяется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классификация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основанная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на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систематизации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мест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нахождения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объектов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заражения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следов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их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действия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на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сервере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400" err="1">
                <a:solidFill>
                  <a:schemeClr val="bg1"/>
                </a:solidFill>
                <a:latin typeface="Times New Roman"/>
                <a:cs typeface="Times New Roman"/>
              </a:rPr>
              <a:t>прочих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932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xmlns="" id="{6867CACD-ACA9-10DA-6227-ABA10487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758" y="247376"/>
            <a:ext cx="9586411" cy="6414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66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96CF2A2B-0745-440C-9224-C5C6A0A428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5BE6D6B-84C9-4D2B-97EB-773B7369EF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Рисунок 2" descr="Изображение выглядит как пространство, снимок экрана, Цвет электрик, синий&#10;&#10;Автоматически созданное описание">
            <a:extLst>
              <a:ext uri="{FF2B5EF4-FFF2-40B4-BE49-F238E27FC236}">
                <a16:creationId xmlns:a16="http://schemas.microsoft.com/office/drawing/2014/main" xmlns="" id="{3C9A83DA-6735-67CC-9996-4774F52CF7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67" b="1698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9B35636-F3AD-766B-CD06-5D02015D3B14}"/>
              </a:ext>
            </a:extLst>
          </p:cNvPr>
          <p:cNvSpPr txBox="1"/>
          <p:nvPr/>
        </p:nvSpPr>
        <p:spPr>
          <a:xfrm>
            <a:off x="1198181" y="2776690"/>
            <a:ext cx="9792471" cy="131404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Типы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    </a:t>
            </a:r>
            <a:endParaRPr lang="ru-RU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 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Чтобы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защититься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от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взлома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важно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различать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атаки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различных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типов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Некоторые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категории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являются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общеизвестными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по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крайней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мере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по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названию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),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другие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–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менее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известны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5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8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49E0B13-6917-C520-049B-BE6EEC14F6B9}"/>
              </a:ext>
            </a:extLst>
          </p:cNvPr>
          <p:cNvSpPr txBox="1"/>
          <p:nvPr/>
        </p:nvSpPr>
        <p:spPr>
          <a:xfrm>
            <a:off x="640080" y="2872899"/>
            <a:ext cx="4243589" cy="361507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Рекламные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программы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 </a:t>
            </a:r>
            <a:endParaRPr lang="ru-RU">
              <a:solidFill>
                <a:schemeClr val="bg2">
                  <a:lumMod val="10000"/>
                </a:schemeClr>
              </a:solidFill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dirty="0">
              <a:solidFill>
                <a:schemeClr val="bg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Рекламные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программы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 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или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программы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существующие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за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счет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демонстрации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отображают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нежелательную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, а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иногда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и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вредоносную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рекламу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экране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устройств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перенаправляют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результаты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поиска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на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рекламные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сайты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и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собирают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данные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пользователей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которые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затем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можно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продать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рекламодателям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без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согласия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самих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пользователей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.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Не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все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рекламные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программы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являются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вредоносным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некоторые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из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них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легальные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и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безопасны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в </a:t>
            </a:r>
            <a:r>
              <a:rPr lang="en-US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использовании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.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Рисунок 2" descr="Изображение выглядит как текст, мультфильм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xmlns="" id="{547E88FF-9524-728C-6016-2FE9B2BDB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82" r="19364" b="-6"/>
          <a:stretch/>
        </p:blipFill>
        <p:spPr>
          <a:xfrm>
            <a:off x="5292652" y="10"/>
            <a:ext cx="689782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249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мультфильм, снимок экрана, Мультфильм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xmlns="" id="{0BFE598C-A0D7-786A-6514-B420BCEE3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9472663-ECEF-2E5B-E437-36532834A976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lvl="8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>
                <a:latin typeface="Times New Roman"/>
                <a:cs typeface="Times New Roman"/>
              </a:rPr>
              <a:t>Шпионские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latin typeface="Times New Roman"/>
                <a:cs typeface="Times New Roman"/>
              </a:rPr>
              <a:t> </a:t>
            </a:r>
          </a:p>
          <a:p>
            <a:pPr lvl="8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Times New Roman"/>
              <a:cs typeface="Times New Roman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>
                <a:latin typeface="Times New Roman"/>
                <a:cs typeface="Times New Roman"/>
              </a:rPr>
              <a:t>Шпионские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latin typeface="Times New Roman"/>
                <a:cs typeface="Times New Roman"/>
              </a:rPr>
              <a:t> – </a:t>
            </a:r>
            <a:r>
              <a:rPr lang="en-US" sz="2400" err="1">
                <a:latin typeface="Times New Roman"/>
                <a:cs typeface="Times New Roman"/>
              </a:rPr>
              <a:t>это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разновидность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вредоносных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скрывающихся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на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устройстве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отслеживающих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активность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err="1">
                <a:latin typeface="Times New Roman"/>
                <a:cs typeface="Times New Roman"/>
              </a:rPr>
              <a:t>осуществляющих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кражу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конфиденциальной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информации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r>
              <a:rPr lang="en-US" sz="2400" err="1">
                <a:latin typeface="Times New Roman"/>
                <a:cs typeface="Times New Roman"/>
              </a:rPr>
              <a:t>финансовых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данных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учетных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записей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данных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для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входа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err="1">
                <a:latin typeface="Times New Roman"/>
                <a:cs typeface="Times New Roman"/>
              </a:rPr>
              <a:t>прочих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данных</a:t>
            </a:r>
            <a:r>
              <a:rPr lang="en-US" sz="2400" dirty="0">
                <a:latin typeface="Times New Roman"/>
                <a:cs typeface="Times New Roman"/>
              </a:rPr>
              <a:t>. </a:t>
            </a:r>
            <a:r>
              <a:rPr lang="en-US" sz="2400" err="1">
                <a:latin typeface="Times New Roman"/>
                <a:cs typeface="Times New Roman"/>
              </a:rPr>
              <a:t>Шпионские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могут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распространяться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через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уязвимости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программного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обеспечения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быть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связны</a:t>
            </a:r>
            <a:r>
              <a:rPr lang="en-US" sz="2400" dirty="0">
                <a:latin typeface="Times New Roman"/>
                <a:cs typeface="Times New Roman"/>
              </a:rPr>
              <a:t> с </a:t>
            </a:r>
            <a:r>
              <a:rPr lang="en-US" sz="2400" err="1">
                <a:latin typeface="Times New Roman"/>
                <a:cs typeface="Times New Roman"/>
              </a:rPr>
              <a:t>легальными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программами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или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являться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частью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троянских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программ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6873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2D90BA8-4371-6D6A-82D8-3866FADF4ED9}"/>
              </a:ext>
            </a:extLst>
          </p:cNvPr>
          <p:cNvSpPr txBox="1"/>
          <p:nvPr/>
        </p:nvSpPr>
        <p:spPr>
          <a:xfrm>
            <a:off x="838200" y="2004446"/>
            <a:ext cx="10515600" cy="41768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057400" lvl="5"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>
                <a:latin typeface="Times New Roman"/>
                <a:cs typeface="Times New Roman"/>
              </a:rPr>
              <a:t>Программы-вымогатели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dirty="0" err="1">
                <a:latin typeface="Times New Roman"/>
                <a:cs typeface="Times New Roman"/>
              </a:rPr>
              <a:t>программы-шифровальщики</a:t>
            </a:r>
            <a:r>
              <a:rPr lang="en-US" sz="2200" dirty="0"/>
              <a:t> </a:t>
            </a:r>
            <a:endParaRPr lang="ru-RU" dirty="0"/>
          </a:p>
          <a:p>
            <a:pPr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/>
                <a:cs typeface="Times New Roman"/>
              </a:rPr>
              <a:t>Программы-вымогатели</a:t>
            </a:r>
            <a:r>
              <a:rPr lang="en-US" sz="2400" dirty="0">
                <a:latin typeface="Times New Roman"/>
                <a:cs typeface="Times New Roman"/>
              </a:rPr>
              <a:t> – </a:t>
            </a:r>
            <a:r>
              <a:rPr lang="en-US" sz="2400" dirty="0" err="1">
                <a:latin typeface="Times New Roman"/>
                <a:cs typeface="Times New Roman"/>
              </a:rPr>
              <a:t>это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вредоносные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осуществляющие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блокировку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или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отказ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доступа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пользователей</a:t>
            </a:r>
            <a:r>
              <a:rPr lang="en-US" sz="2400" dirty="0">
                <a:latin typeface="Times New Roman"/>
                <a:cs typeface="Times New Roman"/>
              </a:rPr>
              <a:t> к </a:t>
            </a:r>
            <a:r>
              <a:rPr lang="en-US" sz="2400" dirty="0" err="1">
                <a:latin typeface="Times New Roman"/>
                <a:cs typeface="Times New Roman"/>
              </a:rPr>
              <a:t>системе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или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данным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момента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выплаты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выкупа</a:t>
            </a:r>
            <a:r>
              <a:rPr lang="en-US" sz="2400" dirty="0">
                <a:latin typeface="Times New Roman"/>
                <a:cs typeface="Times New Roman"/>
              </a:rPr>
              <a:t>. </a:t>
            </a:r>
            <a:r>
              <a:rPr lang="en-US" sz="2400" dirty="0" err="1">
                <a:latin typeface="Times New Roman"/>
                <a:cs typeface="Times New Roman"/>
              </a:rPr>
              <a:t>Программы-шифровальщики</a:t>
            </a:r>
            <a:r>
              <a:rPr lang="en-US" sz="2400" dirty="0">
                <a:latin typeface="Times New Roman"/>
                <a:cs typeface="Times New Roman"/>
              </a:rPr>
              <a:t> – </a:t>
            </a:r>
            <a:r>
              <a:rPr lang="en-US" sz="2400" dirty="0" err="1">
                <a:latin typeface="Times New Roman"/>
                <a:cs typeface="Times New Roman"/>
              </a:rPr>
              <a:t>это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тип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программ-вымогателей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выполняющих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шифрование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пользовательских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файлов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dirty="0" err="1">
                <a:latin typeface="Times New Roman"/>
                <a:cs typeface="Times New Roman"/>
              </a:rPr>
              <a:t>требующих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оплаты</a:t>
            </a:r>
            <a:r>
              <a:rPr lang="en-US" sz="2400" dirty="0">
                <a:latin typeface="Times New Roman"/>
                <a:cs typeface="Times New Roman"/>
              </a:rPr>
              <a:t> в </a:t>
            </a:r>
            <a:r>
              <a:rPr lang="en-US" sz="2400" dirty="0" err="1">
                <a:latin typeface="Times New Roman"/>
                <a:cs typeface="Times New Roman"/>
              </a:rPr>
              <a:t>определенный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срок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dirty="0" err="1">
                <a:latin typeface="Times New Roman"/>
                <a:cs typeface="Times New Roman"/>
              </a:rPr>
              <a:t>часто</a:t>
            </a:r>
            <a:r>
              <a:rPr lang="en-US" sz="2400" dirty="0">
                <a:latin typeface="Times New Roman"/>
                <a:cs typeface="Times New Roman"/>
              </a:rPr>
              <a:t> в </a:t>
            </a:r>
            <a:r>
              <a:rPr lang="en-US" sz="2400" dirty="0" err="1">
                <a:latin typeface="Times New Roman"/>
                <a:cs typeface="Times New Roman"/>
              </a:rPr>
              <a:t>цифровой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валюте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например</a:t>
            </a:r>
            <a:r>
              <a:rPr lang="en-US" sz="2400" dirty="0">
                <a:latin typeface="Times New Roman"/>
                <a:cs typeface="Times New Roman"/>
              </a:rPr>
              <a:t>, в </a:t>
            </a:r>
            <a:r>
              <a:rPr lang="en-US" sz="2400" dirty="0" err="1">
                <a:latin typeface="Times New Roman"/>
                <a:cs typeface="Times New Roman"/>
              </a:rPr>
              <a:t>биткойнах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2734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4">
            <a:extLst>
              <a:ext uri="{FF2B5EF4-FFF2-40B4-BE49-F238E27FC236}">
                <a16:creationId xmlns:a16="http://schemas.microsoft.com/office/drawing/2014/main" xmlns="" id="{79BB35BC-D5C2-4C8B-A22A-A71E619191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круг, знак&#10;&#10;Автоматически созданное описание">
            <a:extLst>
              <a:ext uri="{FF2B5EF4-FFF2-40B4-BE49-F238E27FC236}">
                <a16:creationId xmlns:a16="http://schemas.microsoft.com/office/drawing/2014/main" xmlns="" id="{44BA0B1D-00CD-760A-54A3-E7E23493E4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54" r="1655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C6046B6-F171-374B-7A9D-2CA2ED3BBBA7}"/>
              </a:ext>
            </a:extLst>
          </p:cNvPr>
          <p:cNvSpPr txBox="1"/>
          <p:nvPr/>
        </p:nvSpPr>
        <p:spPr>
          <a:xfrm>
            <a:off x="6513788" y="914072"/>
            <a:ext cx="4944785" cy="526289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</a:rPr>
              <a:t>      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Троянские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Троянские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маскируются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под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легальное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программное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обеспечение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чтобы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обманом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заставить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пользователей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запустить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на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Поскольку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они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выглядят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достаточно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надежными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пользователи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загружают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их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непреднамеренно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заражая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свои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устройства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вредоносными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программами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Троянские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это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своего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рода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точки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входа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злоумышленников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cs typeface="Times New Roman"/>
              </a:rPr>
              <a:t>систему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5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зеленый, Красочность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xmlns="" id="{1794EFDC-F342-241F-2405-4A12DEAA32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DAE9876-4655-7689-3582-A6209106D6D5}"/>
              </a:ext>
            </a:extLst>
          </p:cNvPr>
          <p:cNvSpPr txBox="1"/>
          <p:nvPr/>
        </p:nvSpPr>
        <p:spPr>
          <a:xfrm>
            <a:off x="838200" y="2004446"/>
            <a:ext cx="10515600" cy="41768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Черви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это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один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из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наиболее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часто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встречающихся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типов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распространяющихся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по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компьютерным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сетям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используя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уязвимости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операционной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системы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Черви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представляют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собой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отдельные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программы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распространяющиеся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путем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самокопирования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с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целью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заражения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других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этом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никаких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действий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со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стороны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пользователей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или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злоумышленников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не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требуется</a:t>
            </a:r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9022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искусство, Цвет Majorelle blue, снимок экрана, синий&#10;&#10;Автоматически созданное описание">
            <a:extLst>
              <a:ext uri="{FF2B5EF4-FFF2-40B4-BE49-F238E27FC236}">
                <a16:creationId xmlns:a16="http://schemas.microsoft.com/office/drawing/2014/main" xmlns="" id="{DA18CDCA-819D-B06E-B0AE-4F5D2B2470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0103654-95D1-F726-7184-98EB83656D98}"/>
              </a:ext>
            </a:extLst>
          </p:cNvPr>
          <p:cNvSpPr txBox="1"/>
          <p:nvPr/>
        </p:nvSpPr>
        <p:spPr>
          <a:xfrm>
            <a:off x="838200" y="1956821"/>
            <a:ext cx="10515600" cy="422452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Вирус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это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фрагмент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кода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который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вставляется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приложение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запускается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его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запуске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Попав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сеть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вирус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может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использоваться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для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кражи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конфиденциальных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данных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запуска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DDoS-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атак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или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атак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программ-вымогателей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Обычно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вирус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распространяется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через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зараженные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веб-сайты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совместном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доступе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к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файлам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загрузке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зараженных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вложений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электронной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почты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730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2172A0AC-3DCE-4672-BCAF-28FEF91F60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E6F1C77-EDC9-4C5F-8C1C-62DD46BDA3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DE53374-E349-5768-10DB-8F75301883CA}"/>
              </a:ext>
            </a:extLst>
          </p:cNvPr>
          <p:cNvSpPr txBox="1"/>
          <p:nvPr/>
        </p:nvSpPr>
        <p:spPr>
          <a:xfrm>
            <a:off x="838200" y="2219785"/>
            <a:ext cx="4619621" cy="39571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Клавиатурные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шпионы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 –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это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разновидность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шпионских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отслеживающих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активность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пользователей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.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Они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могут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использоваться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в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законных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целях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например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родители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могут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с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их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помощью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контролировать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действия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детей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в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интернете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, а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компании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отслеживать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активность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/>
                <a:cs typeface="Times New Roman"/>
              </a:rPr>
              <a:t>сотрудников</a:t>
            </a: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4" name="Рисунок 3" descr="Изображение выглядит как Компьютерная клавиатура, компьютер, текст, Устройство ввода&#10;&#10;Автоматически созданное описание">
            <a:extLst>
              <a:ext uri="{FF2B5EF4-FFF2-40B4-BE49-F238E27FC236}">
                <a16:creationId xmlns:a16="http://schemas.microsoft.com/office/drawing/2014/main" xmlns="" id="{EBF7CA8E-BCB8-2533-6D6E-928C553F50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24" r="24338" b="-1"/>
          <a:stretch/>
        </p:blipFill>
        <p:spPr>
          <a:xfrm>
            <a:off x="5061857" y="10"/>
            <a:ext cx="712692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728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вода, на открытом воздухе, бутылк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xmlns="" id="{06A53722-5922-B0F0-C098-A80CB7D2C5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2405" b="19413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90DBA76-50C6-41C4-55DB-20ADE3EFF615}"/>
              </a:ext>
            </a:extLst>
          </p:cNvPr>
          <p:cNvSpPr txBox="1"/>
          <p:nvPr/>
        </p:nvSpPr>
        <p:spPr>
          <a:xfrm>
            <a:off x="838200" y="2004446"/>
            <a:ext cx="10515600" cy="41768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Логические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бомбы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это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тип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программ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которые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активируются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только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определенном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условии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например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в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определенную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дату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время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или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20-м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входе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учетную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запись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Вирусы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черви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часто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содержат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логические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бомбы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для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исполнения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вредоносного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кода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заранее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определенное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время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или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выполнении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определенного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условия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Ущерб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причиняемый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логическими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бомбами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варьируется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от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изменения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всего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нескольких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байтов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данных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до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запрета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на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чтение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жестких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/>
                <a:cs typeface="Times New Roman"/>
              </a:rPr>
              <a:t>дисков</a:t>
            </a:r>
            <a:r>
              <a:rPr lang="en-US" sz="22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41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электроника, Электронная техника, схема, Компонент схемы&#10;&#10;Автоматически созданное описание">
            <a:extLst>
              <a:ext uri="{FF2B5EF4-FFF2-40B4-BE49-F238E27FC236}">
                <a16:creationId xmlns:a16="http://schemas.microsoft.com/office/drawing/2014/main" xmlns="" id="{C8FEB750-6C2A-8DCA-EDDC-78F826835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r="44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1A81465-0921-5756-C5C7-A227BD7D3D02}"/>
              </a:ext>
            </a:extLst>
          </p:cNvPr>
          <p:cNvSpPr txBox="1"/>
          <p:nvPr/>
        </p:nvSpPr>
        <p:spPr>
          <a:xfrm>
            <a:off x="838200" y="1900537"/>
            <a:ext cx="10515600" cy="428080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</a:rPr>
              <a:t>       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Методы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обнаружения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вирусов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 : </a:t>
            </a:r>
            <a:endParaRPr lang="ru-RU" sz="2000">
              <a:solidFill>
                <a:schemeClr val="bg1"/>
              </a:solidFill>
              <a:latin typeface="Times New Roman"/>
              <a:cs typeface="Calibri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1.Просмотр (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сканирование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)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проверяемых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объектов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системных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областей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дисковой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оперативной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памяти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, а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также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файлов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заданных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типов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) в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поиске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сигнатур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уникальных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последовательностей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байтов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)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известных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вирусов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.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2.Инспекция (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обнаружение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изменений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объектах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компьютерной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системы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)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путем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сравнения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их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вычисленных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при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проверке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хеш-значений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с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эталонными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или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проверки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ЭЦП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для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этих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объектов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).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3.Эвристический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анализ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–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проверка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системных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областей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памяти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файлов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с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целью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обнаружения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фрагментов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исполнимого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кода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характерного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для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компьютерных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Times New Roman"/>
                <a:cs typeface="Times New Roman"/>
              </a:rPr>
              <a:t>вирусов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endParaRPr lang="en-US" sz="2000">
              <a:solidFill>
                <a:schemeClr val="bg1"/>
              </a:solidFill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10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2">
            <a:extLst>
              <a:ext uri="{FF2B5EF4-FFF2-40B4-BE49-F238E27FC236}">
                <a16:creationId xmlns:a16="http://schemas.microsoft.com/office/drawing/2014/main" xmlns="" id="{2EB492CD-616E-47F8-933B-5E2D952A05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9" name="Arc 34">
            <a:extLst>
              <a:ext uri="{FF2B5EF4-FFF2-40B4-BE49-F238E27FC236}">
                <a16:creationId xmlns:a16="http://schemas.microsoft.com/office/drawing/2014/main" xmlns="" id="{59383CF9-23B5-4335-9B21-1791C4CF1C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xmlns="" id="{0007FE00-9498-4706-B255-6437B0252C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текст, снимок экрана, дизайн, Шрифт&#10;&#10;Автоматически созданное описание">
            <a:extLst>
              <a:ext uri="{FF2B5EF4-FFF2-40B4-BE49-F238E27FC236}">
                <a16:creationId xmlns:a16="http://schemas.microsoft.com/office/drawing/2014/main" xmlns="" id="{AE4910D9-9BAE-2388-12B8-FD70B79C2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000490"/>
            <a:ext cx="4777381" cy="268727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2847F14-8BED-761E-628E-A304B4F35ABB}"/>
              </a:ext>
            </a:extLst>
          </p:cNvPr>
          <p:cNvSpPr txBox="1"/>
          <p:nvPr/>
        </p:nvSpPr>
        <p:spPr>
          <a:xfrm>
            <a:off x="5894962" y="2001761"/>
            <a:ext cx="5640678" cy="268583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Используйте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антивирус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для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защиты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от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Лучший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способ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защититься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от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атак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latin typeface="Times New Roman"/>
                <a:cs typeface="Times New Roman"/>
              </a:rPr>
              <a:t> и </a:t>
            </a:r>
            <a:r>
              <a:rPr lang="en-US" sz="2000" dirty="0" err="1">
                <a:latin typeface="Times New Roman"/>
                <a:cs typeface="Times New Roman"/>
              </a:rPr>
              <a:t>потенциально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нежелательных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latin typeface="Times New Roman"/>
                <a:cs typeface="Times New Roman"/>
              </a:rPr>
              <a:t> – </a:t>
            </a:r>
            <a:r>
              <a:rPr lang="en-US" sz="2000" dirty="0" err="1">
                <a:latin typeface="Times New Roman"/>
                <a:cs typeface="Times New Roman"/>
              </a:rPr>
              <a:t>использовать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комплексный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антивирус</a:t>
            </a:r>
            <a:r>
              <a:rPr lang="en-US" sz="2000" dirty="0">
                <a:latin typeface="Times New Roman"/>
                <a:cs typeface="Times New Roman"/>
              </a:rPr>
              <a:t>. Kaspersky Total Security </a:t>
            </a:r>
            <a:r>
              <a:rPr lang="en-US" sz="2000" dirty="0" err="1">
                <a:latin typeface="Times New Roman"/>
                <a:cs typeface="Times New Roman"/>
              </a:rPr>
              <a:t>обеспечивает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постоянную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надежную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защиту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ваших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данных</a:t>
            </a:r>
            <a:r>
              <a:rPr lang="en-US" sz="2000" dirty="0">
                <a:latin typeface="Times New Roman"/>
                <a:cs typeface="Times New Roman"/>
              </a:rPr>
              <a:t> и </a:t>
            </a:r>
            <a:r>
              <a:rPr lang="en-US" sz="2000" dirty="0" err="1">
                <a:latin typeface="Times New Roman"/>
                <a:cs typeface="Times New Roman"/>
              </a:rPr>
              <a:t>устройств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от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злоумышленников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dirty="0" err="1">
                <a:latin typeface="Times New Roman"/>
                <a:cs typeface="Times New Roman"/>
              </a:rPr>
              <a:t>вирусов</a:t>
            </a:r>
            <a:r>
              <a:rPr lang="en-US" sz="2000" dirty="0">
                <a:latin typeface="Times New Roman"/>
                <a:cs typeface="Times New Roman"/>
              </a:rPr>
              <a:t> и </a:t>
            </a:r>
            <a:r>
              <a:rPr lang="en-US" sz="2000" dirty="0" err="1">
                <a:latin typeface="Times New Roman"/>
                <a:cs typeface="Times New Roman"/>
              </a:rPr>
              <a:t>вредоносных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программ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480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281</Words>
  <Application>Microsoft Office PowerPoint</Application>
  <PresentationFormat>Произвольный</PresentationFormat>
  <Paragraphs>31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Office Theme</vt:lpstr>
      <vt:lpstr>Вредоносные программы   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Admin</cp:lastModifiedBy>
  <cp:revision>396</cp:revision>
  <dcterms:created xsi:type="dcterms:W3CDTF">2023-12-24T16:35:53Z</dcterms:created>
  <dcterms:modified xsi:type="dcterms:W3CDTF">2026-09-28T11:44:04Z</dcterms:modified>
</cp:coreProperties>
</file>